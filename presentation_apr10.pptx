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88952" cy="3200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 Grouping-Based Ensemble Method with</a:t>
            </a:r>
            <a:br/>
            <a:r>
              <a:t>NSGA-II for Lung Histopathology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CCDD"/>
                </a:solidFill>
              </a:defRPr>
            </a:pPr>
            <a:r>
              <a:t>Anshul Saxena  |  Advik Kashi Vishwanath  |  Kritii Gupta  |  Chandrima Debnath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AABB"/>
                </a:solidFill>
              </a:defRPr>
            </a:pPr>
            <a:r>
              <a:t>Supervisor: Prof. Swati Hait  |  BITS Pilani, Hyderabad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t>Progress Meeting — April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1.  Problem Statement &amp; Dataset Overview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2.  Proposed Architecture (Modified Algorithm)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3.  Key Modifications — Grouping Operator, Adaptive GA, NSGA-II, GP Ensemble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4.  Experiment Results (Tables 2–15)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5.  Analysis of Prof. Hait's Observations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6.  Table 16 Status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Problem Statement &amp;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Task: 3-class lung histopathology classification (ACA / Normal / SCC)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Dataset: LC25000 — 15,000 images (5,000 per class), 224×224 RGB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Split: 70% Train / 10% Validation / 20% Test (stratified)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Challenges: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High-dimensional feature space from CNN backbones (512–2048 dims)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Need effective feature selection to remove redundancy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Combine multiple classifiers for robust predictions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Proposed Architecture — Modified Algorithm</a:t>
            </a:r>
          </a:p>
        </p:txBody>
      </p:sp>
      <p:pic>
        <p:nvPicPr>
          <p:cNvPr id="3" name="Picture 2" descr="methodology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47971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Modifications (New Functions)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1. Grouping Operator for GA &amp; NSGA-II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   Features split into 4 quartile groups: [0,D/4), [D/4,D/2), [D/2,3D/4), [3D/4,D)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   Crossover &amp; mutation respect group boundaries → preserves spatial/channel structure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2. Adaptive GA (rates adjust based on population diversity)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   High diversity → exploit (high crossover, low mutation)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   Low diversity → explore (low crossover, high mutation)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3. NSGA-II Multi-Objective Feature Selection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   Objective 1: Maximize classification accuracy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   Objective 2: Minimize number of selected features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   Uses Pareto-optimal front + crowding distance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4. GP Ensemble Fusion (GP1–GP4 + Weighted Fusion)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   Epsilon-weighted classifier probabilities for combining 5 classifiers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GP Ensemble Fusion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5 Classifiers: KNN (k=5), SVM (RBF), Random Forest, Logistic Regression, XGBoost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Epsilon Weights: Classifiers ranked by validation accuracy,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   T_j = T_{j-1} × acc_{j-1}, then normalized: ε = T / Σ(T)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GP1 (Maximum):       1 − min(1−z₁, 1−z₂, 1−z₃, 1−z₄)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GP2 (Algebraic):     1 − (1−z₁)(1−z₂)(1−z₃)(1−z₄)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GP3 (Ratio):           1 − (1 + z₁z₂z₃z₄) / ((1−z₁)(1−z₂)(1−z₃)(1−z₄))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GP4 (Weighted Sum): (z₁+z₂+z₃+z₄) / (1 + z₁z₂z₃z₄)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Majority Vote: Mode across all 5 classifiers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Weighted Fusion: P_ens(c) = Σ(w_i × P_i(c)) / (1 + Π(w_i × P_i(c)))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Table 2 — Individual Classifier Performance</a:t>
            </a:r>
          </a:p>
          <a:p>
            <a:pPr algn="l">
              <a:defRPr sz="1400">
                <a:solidFill>
                  <a:srgbClr val="BBCCDD"/>
                </a:solidFill>
              </a:defRPr>
            </a:pPr>
            <a:r>
              <a:t>DenseNet121 + SE Attention + Adaptive GA (KNN, SVM, RF)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Classifier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Specificity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99.85%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97.57%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97.57%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97.57%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97.57%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98.78%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98.67%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98.67%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98.67%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98.67%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99.33%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Table 5 — Attention Mechanism Comparison</a:t>
            </a:r>
          </a:p>
          <a:p>
            <a:pPr algn="l">
              <a:defRPr sz="1400">
                <a:solidFill>
                  <a:srgbClr val="BBCCDD"/>
                </a:solidFill>
              </a:defRPr>
            </a:pPr>
            <a:r>
              <a:t>DenseNet121 backbone + Adaptive GA + KNN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1142999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Attention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Specificity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ECA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99.67%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99.67%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99.67%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99.67%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CBAM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93.67%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93.64%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93.67%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93.62%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96.83%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SPLIT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99.07%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99.07%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99.07%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99.07%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99.53%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VIT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99.92%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SWIN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Table 6 — GA vs NSGA-II Feature Selection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11430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Specificity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Reduction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Adaptive 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NSGA-II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99.85%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310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Tables 7 &amp; 8 — Grouping Operator &amp; GA Variants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GA Variant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Baseline 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506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Adaptive GA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510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Adaptive GA + Grouping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522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Table 10 — Comprehensive Feature Selection Comparison</a:t>
            </a:r>
          </a:p>
          <a:p>
            <a:pPr algn="l">
              <a:defRPr sz="1400">
                <a:solidFill>
                  <a:srgbClr val="BBCCDD"/>
                </a:solidFill>
              </a:defRPr>
            </a:pPr>
            <a:r>
              <a:t>Baseline GA vs Adaptive GA vs NSGA-II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Reduction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Time (s)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Baseline 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1958.3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Adaptive GA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510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50.2%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1186.6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NSGA-II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4508.3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200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Key Insight: NSGA-II achieves 69.7% feature reduction (best) but takes longest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Baseline GA: 50.6% reduction, slightly higher accuracy (99.73%)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Adaptive GA: 50.2% reduction, fastest convergence (1186s)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Tables 11–13 — Hyperparameter Sensitivity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5B6"/>
                </a:solidFill>
              </a:defRPr>
            </a:pPr>
            <a:r>
              <a:t>Table 11: Population Size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554480"/>
          <a:ext cx="34747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240"/>
                <a:gridCol w="1158240"/>
                <a:gridCol w="11582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Pop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517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510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543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479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5B6"/>
                </a:solidFill>
              </a:defRPr>
            </a:pPr>
            <a:r>
              <a:t>Table 12: Generations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31920" y="1554480"/>
          <a:ext cx="34747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240"/>
                <a:gridCol w="1158240"/>
                <a:gridCol w="11582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Gens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509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510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510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55279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5B6"/>
                </a:solidFill>
              </a:defRPr>
            </a:pPr>
            <a:r>
              <a:t>Table 13: KNN k Value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0" y="1554480"/>
          <a:ext cx="34747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240"/>
                <a:gridCol w="1158240"/>
                <a:gridCol w="11582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99.60%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99.77%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99.60%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99.60%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114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Population size: Stable 99.7–99.87%. Pop=20 or 60 slightly better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Generations: Converges by 50 gens. No improvement at 100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KNN k: k=5 and k=7 optimal. k=3,9 slightly lower (99.6%)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Table 14 — CNN Backbone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Backbone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Feature Dim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Specificity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Selected Features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densenet121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510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resnet50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2048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99.60%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99.60%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968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vgg16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96.77%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96.76%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98.38%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262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efficientnetb0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1280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99.90%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99.90%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99.95%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650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200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EfficientNetB0: Best accuracy (99.90%) with 1280-dim features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DenseNet121: Strong (99.70%) with compact 1024-dim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VGG16: Lowest (96.77%) — older architecture, fewer features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Table 15 — Ensemble Fusion Strategies</a:t>
            </a:r>
          </a:p>
          <a:p>
            <a:pPr algn="l">
              <a:defRPr sz="1400">
                <a:solidFill>
                  <a:srgbClr val="BBCCDD"/>
                </a:solidFill>
              </a:defRPr>
            </a:pPr>
            <a:r>
              <a:t>5 Classifiers: KNN, SVM, RF, LR, XGBoost + 6 Ensemble Methods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Specificity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Majority Vote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99.58%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Weighted Fusion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99.47%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99.47%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99.47%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99.47%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GP1 (Max)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GP2 (Product)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99.53%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99.53%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99.53%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99.53%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GP3 (Ratio)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50.00%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GP4 (Weighted Sum)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99.53%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99.53%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99.53%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99.53%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NSGA-II Convergence &amp; Pareto Front</a:t>
            </a:r>
          </a:p>
        </p:txBody>
      </p:sp>
      <p:pic>
        <p:nvPicPr>
          <p:cNvPr id="3" name="Picture 2" descr="nsga2_convergence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107487"/>
          </a:xfrm>
          <a:prstGeom prst="rect">
            <a:avLst/>
          </a:prstGeom>
        </p:spPr>
      </p:pic>
      <p:pic>
        <p:nvPicPr>
          <p:cNvPr id="4" name="Picture 3" descr="nsga2_pareto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760720" cy="333889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Confusion Matrix &amp; Parameter Sensitivity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486400" cy="4563004"/>
          </a:xfrm>
          <a:prstGeom prst="rect">
            <a:avLst/>
          </a:prstGeom>
        </p:spPr>
      </p:pic>
      <p:pic>
        <p:nvPicPr>
          <p:cNvPr id="4" name="Picture 3" descr="param_sensitivity_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88720"/>
            <a:ext cx="5943600" cy="21835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Table 4 — 10-Fold Cross-Validation</a:t>
            </a:r>
          </a:p>
          <a:p>
            <a:pPr algn="l">
              <a:defRPr sz="1400">
                <a:solidFill>
                  <a:srgbClr val="BBCCDD"/>
                </a:solidFill>
              </a:defRPr>
            </a:pPr>
            <a:r>
              <a:t>DenseNet121 + SE + Adaptive GA + KNN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Fold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Specificity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99.80%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99.93%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99.93%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99.93%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99.93%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99.97%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99.93%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99.93%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99.87%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99.67%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99.67%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99.67%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99.67%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99.90%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99.87%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Addressing Prof. Hait's Observations (March 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Q1: "Have you applied the new grouping function?"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   ✓ Yes — Grouping operator implemented in both Adaptive GA and NSGA-II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   ✓ Features split into 4 quartile groups; crossover/mutation respect group boundaries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Q2: "Most values in many tables are exactly the same"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   → Accuracy values are very close (99.60–99.87%) because LC25000 dataset is relatively easy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   → Small differences visible in features selected and per-class metrics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   → Need to investigate: are features actually changing between GA variants?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Q3: "NSGA-II and Simple GA have not affected results — not even a small change"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   → Feature REDUCTION differs significantly: Baseline GA 50.6% vs NSGA-II 69.7%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   → But classification accuracy stays similar (~99.7%) due to dataset saturation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   → Key benefit of NSGA-II: fewer features, same performance = more efficient model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Q4: "Have new grouping operators improved results?"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   → Grouping maintains accuracy while providing better feature diversity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   → Table 7: With grouping 99.77% vs without 99.70% (marginal improvement)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   → Main value: structural coherence in selected features, not raw accuracy gain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Table 16 — Full Pipeline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Table 16: 4 Backbones × SE Attention × NSGA-II × 5 Classifiers × GP Ensemble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Status: NOT COMPLETED — Out of Memory (OOM)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Hardware used: NVIDIA L4 GPU, 32 GB RAM, 8-core CPU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Issue: NSGA-II on concatenated 4-backbone features (1024+2048+512+1280 = 4864 dims)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    exceeds available memory even with reduced pop/gen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Options to resolve: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1. Access machine with ≥64 GB RAM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2. Process backbones sequentially instead of concatenating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3. Apply dimensionality reduction (PCA) before NSGA-II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4. Use smaller population size with batched fitness evaluation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Completed: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✓ Tables 2–15 all generated with new functions (grouping, adaptive GA, NSGA-II, GP ensemble)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✓ 5 classifiers (KNN, SVM, RF, LR, XGBoost) + 6 ensemble methods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✓ Comprehensive ablation studies (attention, backbone, hyperparameters)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✓ Best accuracy: 99.90% (EfficientNetB0), 99.70% (DenseNet121 default)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Pending: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⏳ Table 16 — needs higher RAM machine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⏳ Verify feature selection actually changes features across GA variants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⏳ Add old vs new function comparison tables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Next Steps: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→ Resolve Table 16 OOM issue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→ Finalize results in Overleaf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 → Complete paper draft for submission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CCDD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